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IBM Z DATATHON 2026 · AI SECURED: INNOVATION WITHOUT EXPOSURE</a:t>
            </a:r>
          </a:p>
        </p:txBody>
      </p:sp>
      <p:sp>
        <p:nvSpPr>
          <p:cNvPr id="4" name="TextBox 3"/>
          <p:cNvSpPr txBox="1"/>
          <p:nvPr/>
        </p:nvSpPr>
        <p:spPr>
          <a:xfrm>
            <a:off x="548640" y="685800"/>
            <a:ext cx="11155680" cy="822960"/>
          </a:xfrm>
          <a:prstGeom prst="rect">
            <a:avLst/>
          </a:prstGeom>
          <a:noFill/>
        </p:spPr>
        <p:txBody>
          <a:bodyPr wrap="square">
            <a:spAutoFit/>
          </a:bodyPr>
          <a:lstStyle/>
          <a:p>
            <a:r>
              <a:rPr sz="3000" b="1">
                <a:solidFill>
                  <a:srgbClr val="E8F0F7"/>
                </a:solidFill>
                <a:latin typeface="Segoe UI"/>
              </a:rPr>
              <a:t>INTENTGATE Z</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TextBox 6"/>
          <p:cNvSpPr txBox="1"/>
          <p:nvPr/>
        </p:nvSpPr>
        <p:spPr>
          <a:xfrm>
            <a:off x="548640" y="1783080"/>
            <a:ext cx="10972800" cy="731520"/>
          </a:xfrm>
          <a:prstGeom prst="rect">
            <a:avLst/>
          </a:prstGeom>
          <a:noFill/>
        </p:spPr>
        <p:txBody>
          <a:bodyPr wrap="square">
            <a:spAutoFit/>
          </a:bodyPr>
          <a:lstStyle/>
          <a:p>
            <a:r>
              <a:rPr sz="3200" b="1">
                <a:solidFill>
                  <a:srgbClr val="00D5B5"/>
                </a:solidFill>
                <a:latin typeface="Segoe UI"/>
              </a:rPr>
              <a:t>Authorized doesn't always mean intended.</a:t>
            </a:r>
          </a:p>
        </p:txBody>
      </p:sp>
      <p:sp>
        <p:nvSpPr>
          <p:cNvPr id="8" name="TextBox 7"/>
          <p:cNvSpPr txBox="1"/>
          <p:nvPr/>
        </p:nvSpPr>
        <p:spPr>
          <a:xfrm>
            <a:off x="548640" y="2606040"/>
            <a:ext cx="5943600" cy="2011680"/>
          </a:xfrm>
          <a:prstGeom prst="rect">
            <a:avLst/>
          </a:prstGeom>
          <a:noFill/>
        </p:spPr>
        <p:txBody>
          <a:bodyPr wrap="square">
            <a:spAutoFit/>
          </a:bodyPr>
          <a:lstStyle/>
          <a:p>
            <a:r>
              <a:rPr sz="1700" b="0">
                <a:solidFill>
                  <a:srgbClr val="E8F0F7"/>
                </a:solidFill>
                <a:latin typeface="Segoe UI"/>
              </a:rPr>
              <a:t>A real-time security gateway that checks every autonomous-agent action against the human's registered intent, then returns ALLOW, CHALLENGE or BLOCK before anything executes. Running on IBM LinuxONE, with the risk model on the Telum on-chip AI accelerator.</a:t>
            </a:r>
          </a:p>
        </p:txBody>
      </p:sp>
      <p:sp>
        <p:nvSpPr>
          <p:cNvPr id="9" name="TextBox 8"/>
          <p:cNvSpPr txBox="1"/>
          <p:nvPr/>
        </p:nvSpPr>
        <p:spPr>
          <a:xfrm>
            <a:off x="548640" y="4709160"/>
            <a:ext cx="6035040" cy="1463040"/>
          </a:xfrm>
          <a:prstGeom prst="rect">
            <a:avLst/>
          </a:prstGeom>
          <a:noFill/>
        </p:spPr>
        <p:txBody>
          <a:bodyPr wrap="square">
            <a:spAutoFit/>
          </a:bodyPr>
          <a:lstStyle/>
          <a:p>
            <a:r>
              <a:rPr sz="1200" b="0">
                <a:solidFill>
                  <a:srgbClr val="8496A8"/>
                </a:solidFill>
                <a:latin typeface="Consolas"/>
              </a:rPr>
              <a:t>Team Kanban_IBM Z Datathon 2026 Project - IntentGate Z</a:t>
            </a:r>
          </a:p>
          <a:p>
            <a:r>
              <a:rPr sz="1200" b="0">
                <a:solidFill>
                  <a:srgbClr val="8496A8"/>
                </a:solidFill>
                <a:latin typeface="Consolas"/>
              </a:rPr>
              <a:t>Team: Team Kanban</a:t>
            </a:r>
          </a:p>
          <a:p>
            <a:r>
              <a:rPr sz="1200" b="0">
                <a:solidFill>
                  <a:srgbClr val="8496A8"/>
                </a:solidFill>
                <a:latin typeface="Consolas"/>
              </a:rPr>
              <a:t>Code: https://github.com/4waiz/IntentGateZ</a:t>
            </a:r>
          </a:p>
          <a:p>
            <a:r>
              <a:rPr sz="1200" b="0">
                <a:solidFill>
                  <a:srgbClr val="8496A8"/>
                </a:solidFill>
                <a:latin typeface="Consolas"/>
              </a:rPr>
              <a:t>Live: https://intentgatez.148-100-79-208.sslip.io</a:t>
            </a:r>
          </a:p>
        </p:txBody>
      </p:sp>
      <p:pic>
        <p:nvPicPr>
          <p:cNvPr id="10" name="Picture 9" descr="hero.png"/>
          <p:cNvPicPr>
            <a:picLocks noChangeAspect="1"/>
          </p:cNvPicPr>
          <p:nvPr/>
        </p:nvPicPr>
        <p:blipFill>
          <a:blip r:embed="rId2"/>
          <a:stretch>
            <a:fillRect/>
          </a:stretch>
        </p:blipFill>
        <p:spPr>
          <a:xfrm>
            <a:off x="6720840" y="2606040"/>
            <a:ext cx="4937760" cy="277749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THE PROBLEM</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Authentication proves who acts, not what the human intended</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Rounded Rectangle 6"/>
          <p:cNvSpPr/>
          <p:nvPr/>
        </p:nvSpPr>
        <p:spPr>
          <a:xfrm>
            <a:off x="548640" y="1828800"/>
            <a:ext cx="3566160" cy="2194560"/>
          </a:xfrm>
          <a:prstGeom prst="roundRect">
            <a:avLst>
              <a:gd name="adj" fmla="val 6000"/>
            </a:avLst>
          </a:prstGeom>
          <a:solidFill>
            <a:srgbClr val="0C1A28"/>
          </a:solidFill>
          <a:ln w="15240">
            <a:solidFill>
              <a:srgbClr val="FF5D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3200400" cy="365760"/>
          </a:xfrm>
          <a:prstGeom prst="rect">
            <a:avLst/>
          </a:prstGeom>
          <a:noFill/>
        </p:spPr>
        <p:txBody>
          <a:bodyPr wrap="square">
            <a:spAutoFit/>
          </a:bodyPr>
          <a:lstStyle/>
          <a:p>
            <a:r>
              <a:rPr sz="1500" b="1">
                <a:solidFill>
                  <a:srgbClr val="FF5D70"/>
                </a:solidFill>
                <a:latin typeface="Segoe UI"/>
              </a:rPr>
              <a:t>Valid credentials, wrong action</a:t>
            </a:r>
          </a:p>
        </p:txBody>
      </p:sp>
      <p:sp>
        <p:nvSpPr>
          <p:cNvPr id="9" name="TextBox 8"/>
          <p:cNvSpPr txBox="1"/>
          <p:nvPr/>
        </p:nvSpPr>
        <p:spPr>
          <a:xfrm>
            <a:off x="731520" y="2377440"/>
            <a:ext cx="3200400" cy="1554480"/>
          </a:xfrm>
          <a:prstGeom prst="rect">
            <a:avLst/>
          </a:prstGeom>
          <a:noFill/>
        </p:spPr>
        <p:txBody>
          <a:bodyPr wrap="square">
            <a:spAutoFit/>
          </a:bodyPr>
          <a:lstStyle/>
          <a:p>
            <a:r>
              <a:rPr sz="1200" b="0">
                <a:solidFill>
                  <a:srgbClr val="E8F0F7"/>
                </a:solidFill>
                <a:latin typeface="Segoe UI"/>
              </a:rPr>
              <a:t>An ambulance-routing agent reads a poisoned hospital-status feed and redirects a critical patient to the wrong hospital, while still fully authenticated.</a:t>
            </a:r>
          </a:p>
        </p:txBody>
      </p:sp>
      <p:sp>
        <p:nvSpPr>
          <p:cNvPr id="10" name="Rounded Rectangle 9"/>
          <p:cNvSpPr/>
          <p:nvPr/>
        </p:nvSpPr>
        <p:spPr>
          <a:xfrm>
            <a:off x="4297680" y="1828800"/>
            <a:ext cx="3566160" cy="2194560"/>
          </a:xfrm>
          <a:prstGeom prst="roundRect">
            <a:avLst>
              <a:gd name="adj" fmla="val 6000"/>
            </a:avLst>
          </a:prstGeom>
          <a:solidFill>
            <a:srgbClr val="0C1A28"/>
          </a:solidFill>
          <a:ln w="15240">
            <a:solidFill>
              <a:srgbClr val="FFB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965960"/>
            <a:ext cx="3200400" cy="365760"/>
          </a:xfrm>
          <a:prstGeom prst="rect">
            <a:avLst/>
          </a:prstGeom>
          <a:noFill/>
        </p:spPr>
        <p:txBody>
          <a:bodyPr wrap="square">
            <a:spAutoFit/>
          </a:bodyPr>
          <a:lstStyle/>
          <a:p>
            <a:r>
              <a:rPr sz="1500" b="1">
                <a:solidFill>
                  <a:srgbClr val="FFBC5C"/>
                </a:solidFill>
                <a:latin typeface="Segoe UI"/>
              </a:rPr>
              <a:t>Authority creep</a:t>
            </a:r>
          </a:p>
        </p:txBody>
      </p:sp>
      <p:sp>
        <p:nvSpPr>
          <p:cNvPr id="12" name="TextBox 11"/>
          <p:cNvSpPr txBox="1"/>
          <p:nvPr/>
        </p:nvSpPr>
        <p:spPr>
          <a:xfrm>
            <a:off x="4480560" y="2377440"/>
            <a:ext cx="3200400" cy="1554480"/>
          </a:xfrm>
          <a:prstGeom prst="rect">
            <a:avLst/>
          </a:prstGeom>
          <a:noFill/>
        </p:spPr>
        <p:txBody>
          <a:bodyPr wrap="square">
            <a:spAutoFit/>
          </a:bodyPr>
          <a:lstStyle/>
          <a:p>
            <a:r>
              <a:rPr sz="1200" b="0">
                <a:solidFill>
                  <a:srgbClr val="E8F0F7"/>
                </a:solidFill>
                <a:latin typeface="Segoe UI"/>
              </a:rPr>
              <a:t>A procurement agent turns a $50,000 restock into a $200,000 order. Each step looked like normal tool use.</a:t>
            </a:r>
          </a:p>
        </p:txBody>
      </p:sp>
      <p:sp>
        <p:nvSpPr>
          <p:cNvPr id="13" name="Rounded Rectangle 12"/>
          <p:cNvSpPr/>
          <p:nvPr/>
        </p:nvSpPr>
        <p:spPr>
          <a:xfrm>
            <a:off x="8046720" y="1828800"/>
            <a:ext cx="3566160" cy="2194560"/>
          </a:xfrm>
          <a:prstGeom prst="roundRect">
            <a:avLst>
              <a:gd name="adj" fmla="val 6000"/>
            </a:avLst>
          </a:prstGeom>
          <a:solidFill>
            <a:srgbClr val="0C1A28"/>
          </a:solidFill>
          <a:ln w="15240">
            <a:solidFill>
              <a:srgbClr val="FF5D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65960"/>
            <a:ext cx="3200400" cy="365760"/>
          </a:xfrm>
          <a:prstGeom prst="rect">
            <a:avLst/>
          </a:prstGeom>
          <a:noFill/>
        </p:spPr>
        <p:txBody>
          <a:bodyPr wrap="square">
            <a:spAutoFit/>
          </a:bodyPr>
          <a:lstStyle/>
          <a:p>
            <a:r>
              <a:rPr sz="1500" b="1">
                <a:solidFill>
                  <a:srgbClr val="FF5D70"/>
                </a:solidFill>
                <a:latin typeface="Segoe UI"/>
              </a:rPr>
              <a:t>Intent drift</a:t>
            </a:r>
          </a:p>
        </p:txBody>
      </p:sp>
      <p:sp>
        <p:nvSpPr>
          <p:cNvPr id="15" name="TextBox 14"/>
          <p:cNvSpPr txBox="1"/>
          <p:nvPr/>
        </p:nvSpPr>
        <p:spPr>
          <a:xfrm>
            <a:off x="8229600" y="2377440"/>
            <a:ext cx="3200400" cy="1554480"/>
          </a:xfrm>
          <a:prstGeom prst="rect">
            <a:avLst/>
          </a:prstGeom>
          <a:noFill/>
        </p:spPr>
        <p:txBody>
          <a:bodyPr wrap="square">
            <a:spAutoFit/>
          </a:bodyPr>
          <a:lstStyle/>
          <a:p>
            <a:r>
              <a:rPr sz="1200" b="0">
                <a:solidFill>
                  <a:srgbClr val="E8F0F7"/>
                </a:solidFill>
                <a:latin typeface="Segoe UI"/>
              </a:rPr>
              <a:t>A coordination agent finishes its task, then 'helpfully' diverts a children's hospital it was never asked to touch.</a:t>
            </a:r>
          </a:p>
        </p:txBody>
      </p:sp>
      <p:sp>
        <p:nvSpPr>
          <p:cNvPr id="16" name="TextBox 15"/>
          <p:cNvSpPr txBox="1"/>
          <p:nvPr/>
        </p:nvSpPr>
        <p:spPr>
          <a:xfrm>
            <a:off x="548640" y="4343400"/>
            <a:ext cx="11064240" cy="1645920"/>
          </a:xfrm>
          <a:prstGeom prst="rect">
            <a:avLst/>
          </a:prstGeom>
          <a:noFill/>
        </p:spPr>
        <p:txBody>
          <a:bodyPr wrap="square">
            <a:spAutoFit/>
          </a:bodyPr>
          <a:lstStyle/>
          <a:p>
            <a:r>
              <a:rPr sz="1600" b="0">
                <a:solidFill>
                  <a:srgbClr val="E8F0F7"/>
                </a:solidFill>
                <a:latin typeface="Segoe UI"/>
              </a:rPr>
              <a:t>Evidence: on the InjecAgent benchmark (Zhan et al., Findings of ACL 2024), a ReAct-prompted GPT-4 agent followed instructions hidden in tool outputs in 24% of attacks, and an enhanced attack nearly doubled that. As hospitals, emergency services and enterprises hand real actions to AI agents, the missing control is an intent check at the moment of action, with evidence a human can audit.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THE SOLUTION</a:t>
            </a:r>
          </a:p>
        </p:txBody>
      </p:sp>
      <p:sp>
        <p:nvSpPr>
          <p:cNvPr id="4" name="TextBox 3"/>
          <p:cNvSpPr txBox="1"/>
          <p:nvPr/>
        </p:nvSpPr>
        <p:spPr>
          <a:xfrm>
            <a:off x="548640" y="685800"/>
            <a:ext cx="11155680" cy="822960"/>
          </a:xfrm>
          <a:prstGeom prst="rect">
            <a:avLst/>
          </a:prstGeom>
          <a:noFill/>
        </p:spPr>
        <p:txBody>
          <a:bodyPr wrap="square">
            <a:spAutoFit/>
          </a:bodyPr>
          <a:lstStyle/>
          <a:p>
            <a:r>
              <a:rPr sz="3000" b="1">
                <a:solidFill>
                  <a:srgbClr val="E8F0F7"/>
                </a:solidFill>
                <a:latin typeface="Segoe UI"/>
              </a:rPr>
              <a:t>One decision path before every sensitive action</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Rounded Rectangle 6"/>
          <p:cNvSpPr/>
          <p:nvPr/>
        </p:nvSpPr>
        <p:spPr>
          <a:xfrm>
            <a:off x="548640" y="1828800"/>
            <a:ext cx="2697480" cy="2103120"/>
          </a:xfrm>
          <a:prstGeom prst="roundRect">
            <a:avLst>
              <a:gd name="adj" fmla="val 6000"/>
            </a:avLst>
          </a:prstGeom>
          <a:solidFill>
            <a:srgbClr val="0C1A28"/>
          </a:solidFill>
          <a:ln w="1524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65960"/>
            <a:ext cx="2331720" cy="365760"/>
          </a:xfrm>
          <a:prstGeom prst="rect">
            <a:avLst/>
          </a:prstGeom>
          <a:noFill/>
        </p:spPr>
        <p:txBody>
          <a:bodyPr wrap="square">
            <a:spAutoFit/>
          </a:bodyPr>
          <a:lstStyle/>
          <a:p>
            <a:r>
              <a:rPr sz="1500" b="1">
                <a:solidFill>
                  <a:srgbClr val="0F62FE"/>
                </a:solidFill>
                <a:latin typeface="Segoe UI"/>
              </a:rPr>
              <a:t>Human intent</a:t>
            </a:r>
          </a:p>
        </p:txBody>
      </p:sp>
      <p:sp>
        <p:nvSpPr>
          <p:cNvPr id="9" name="TextBox 8"/>
          <p:cNvSpPr txBox="1"/>
          <p:nvPr/>
        </p:nvSpPr>
        <p:spPr>
          <a:xfrm>
            <a:off x="731520" y="2377440"/>
            <a:ext cx="2331720" cy="1463039"/>
          </a:xfrm>
          <a:prstGeom prst="rect">
            <a:avLst/>
          </a:prstGeom>
          <a:noFill/>
        </p:spPr>
        <p:txBody>
          <a:bodyPr wrap="square">
            <a:spAutoFit/>
          </a:bodyPr>
          <a:lstStyle/>
          <a:p>
            <a:r>
              <a:rPr sz="1200" b="0">
                <a:solidFill>
                  <a:srgbClr val="E8F0F7"/>
                </a:solidFill>
                <a:latin typeface="Segoe UI"/>
              </a:rPr>
              <a:t>Signed, versioned, immutable: operations, targets, budget, ETA, expiry</a:t>
            </a:r>
          </a:p>
        </p:txBody>
      </p:sp>
      <p:sp>
        <p:nvSpPr>
          <p:cNvPr id="10" name="Rounded Rectangle 9"/>
          <p:cNvSpPr/>
          <p:nvPr/>
        </p:nvSpPr>
        <p:spPr>
          <a:xfrm>
            <a:off x="3429000" y="1828800"/>
            <a:ext cx="2697480" cy="2103120"/>
          </a:xfrm>
          <a:prstGeom prst="roundRect">
            <a:avLst>
              <a:gd name="adj" fmla="val 6000"/>
            </a:avLst>
          </a:prstGeom>
          <a:solidFill>
            <a:srgbClr val="0C1A28"/>
          </a:solidFill>
          <a:ln w="15240">
            <a:solidFill>
              <a:srgbClr val="849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11880" y="1965960"/>
            <a:ext cx="2331720" cy="365760"/>
          </a:xfrm>
          <a:prstGeom prst="rect">
            <a:avLst/>
          </a:prstGeom>
          <a:noFill/>
        </p:spPr>
        <p:txBody>
          <a:bodyPr wrap="square">
            <a:spAutoFit/>
          </a:bodyPr>
          <a:lstStyle/>
          <a:p>
            <a:r>
              <a:rPr sz="1500" b="1">
                <a:solidFill>
                  <a:srgbClr val="8496A8"/>
                </a:solidFill>
                <a:latin typeface="Segoe UI"/>
              </a:rPr>
              <a:t>Agent proposal</a:t>
            </a:r>
          </a:p>
        </p:txBody>
      </p:sp>
      <p:sp>
        <p:nvSpPr>
          <p:cNvPr id="12" name="TextBox 11"/>
          <p:cNvSpPr txBox="1"/>
          <p:nvPr/>
        </p:nvSpPr>
        <p:spPr>
          <a:xfrm>
            <a:off x="3611880" y="2377440"/>
            <a:ext cx="2331720" cy="1463039"/>
          </a:xfrm>
          <a:prstGeom prst="rect">
            <a:avLst/>
          </a:prstGeom>
          <a:noFill/>
        </p:spPr>
        <p:txBody>
          <a:bodyPr wrap="square">
            <a:spAutoFit/>
          </a:bodyPr>
          <a:lstStyle/>
          <a:p>
            <a:r>
              <a:rPr sz="1200" b="0">
                <a:solidFill>
                  <a:srgbClr val="E8F0F7"/>
                </a:solidFill>
                <a:latin typeface="Segoe UI"/>
              </a:rPr>
              <a:t>Tool call + parameter-level provenance (trusted / internal / untrusted)</a:t>
            </a:r>
          </a:p>
        </p:txBody>
      </p:sp>
      <p:sp>
        <p:nvSpPr>
          <p:cNvPr id="13" name="Rounded Rectangle 12"/>
          <p:cNvSpPr/>
          <p:nvPr/>
        </p:nvSpPr>
        <p:spPr>
          <a:xfrm>
            <a:off x="6309359" y="1828800"/>
            <a:ext cx="2697480" cy="210312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1965960"/>
            <a:ext cx="2331720" cy="365760"/>
          </a:xfrm>
          <a:prstGeom prst="rect">
            <a:avLst/>
          </a:prstGeom>
          <a:noFill/>
        </p:spPr>
        <p:txBody>
          <a:bodyPr wrap="square">
            <a:spAutoFit/>
          </a:bodyPr>
          <a:lstStyle/>
          <a:p>
            <a:r>
              <a:rPr sz="1500" b="1">
                <a:solidFill>
                  <a:srgbClr val="00D5B5"/>
                </a:solidFill>
                <a:latin typeface="Segoe UI"/>
              </a:rPr>
              <a:t>IntentGate Z on IBM Z</a:t>
            </a:r>
          </a:p>
        </p:txBody>
      </p:sp>
      <p:sp>
        <p:nvSpPr>
          <p:cNvPr id="15" name="TextBox 14"/>
          <p:cNvSpPr txBox="1"/>
          <p:nvPr/>
        </p:nvSpPr>
        <p:spPr>
          <a:xfrm>
            <a:off x="6492240" y="2377440"/>
            <a:ext cx="2331720" cy="1463039"/>
          </a:xfrm>
          <a:prstGeom prst="rect">
            <a:avLst/>
          </a:prstGeom>
          <a:noFill/>
        </p:spPr>
        <p:txBody>
          <a:bodyPr wrap="square">
            <a:spAutoFit/>
          </a:bodyPr>
          <a:lstStyle/>
          <a:p>
            <a:r>
              <a:rPr sz="1200" b="0">
                <a:solidFill>
                  <a:srgbClr val="E8F0F7"/>
                </a:solidFill>
                <a:latin typeface="Segoe UI"/>
              </a:rPr>
              <a:t>Identity, hard policy, 43 features, ML risk, fusion</a:t>
            </a:r>
          </a:p>
        </p:txBody>
      </p:sp>
      <p:sp>
        <p:nvSpPr>
          <p:cNvPr id="16" name="Rounded Rectangle 15"/>
          <p:cNvSpPr/>
          <p:nvPr/>
        </p:nvSpPr>
        <p:spPr>
          <a:xfrm>
            <a:off x="9189719" y="1828800"/>
            <a:ext cx="2697480" cy="2103120"/>
          </a:xfrm>
          <a:prstGeom prst="roundRect">
            <a:avLst>
              <a:gd name="adj" fmla="val 6000"/>
            </a:avLst>
          </a:prstGeom>
          <a:solidFill>
            <a:srgbClr val="0C1A28"/>
          </a:solidFill>
          <a:ln w="15240">
            <a:solidFill>
              <a:srgbClr val="FFB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72599" y="1965960"/>
            <a:ext cx="2331720" cy="365760"/>
          </a:xfrm>
          <a:prstGeom prst="rect">
            <a:avLst/>
          </a:prstGeom>
          <a:noFill/>
        </p:spPr>
        <p:txBody>
          <a:bodyPr wrap="square">
            <a:spAutoFit/>
          </a:bodyPr>
          <a:lstStyle/>
          <a:p>
            <a:r>
              <a:rPr sz="1500" b="1">
                <a:solidFill>
                  <a:srgbClr val="FFBC5C"/>
                </a:solidFill>
                <a:latin typeface="Segoe UI"/>
              </a:rPr>
              <a:t>Verdict</a:t>
            </a:r>
          </a:p>
        </p:txBody>
      </p:sp>
      <p:sp>
        <p:nvSpPr>
          <p:cNvPr id="18" name="TextBox 17"/>
          <p:cNvSpPr txBox="1"/>
          <p:nvPr/>
        </p:nvSpPr>
        <p:spPr>
          <a:xfrm>
            <a:off x="9372599" y="2377440"/>
            <a:ext cx="2331720" cy="1463039"/>
          </a:xfrm>
          <a:prstGeom prst="rect">
            <a:avLst/>
          </a:prstGeom>
          <a:noFill/>
        </p:spPr>
        <p:txBody>
          <a:bodyPr wrap="square">
            <a:spAutoFit/>
          </a:bodyPr>
          <a:lstStyle/>
          <a:p>
            <a:r>
              <a:rPr sz="1200" b="0">
                <a:solidFill>
                  <a:srgbClr val="E8F0F7"/>
                </a:solidFill>
                <a:latin typeface="Segoe UI"/>
              </a:rPr>
              <a:t>ALLOW executes · CHALLENGE needs a supervisor grant · BLOCK prevents</a:t>
            </a:r>
          </a:p>
        </p:txBody>
      </p:sp>
      <p:sp>
        <p:nvSpPr>
          <p:cNvPr id="19" name="Rounded Rectangle 18"/>
          <p:cNvSpPr/>
          <p:nvPr/>
        </p:nvSpPr>
        <p:spPr>
          <a:xfrm>
            <a:off x="548640" y="4206240"/>
            <a:ext cx="5486400" cy="192024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343400"/>
            <a:ext cx="5120640" cy="365760"/>
          </a:xfrm>
          <a:prstGeom prst="rect">
            <a:avLst/>
          </a:prstGeom>
          <a:noFill/>
        </p:spPr>
        <p:txBody>
          <a:bodyPr wrap="square">
            <a:spAutoFit/>
          </a:bodyPr>
          <a:lstStyle/>
          <a:p>
            <a:r>
              <a:rPr sz="1500" b="1">
                <a:solidFill>
                  <a:srgbClr val="00D5B5"/>
                </a:solidFill>
                <a:latin typeface="Segoe UI"/>
              </a:rPr>
              <a:t>Hard rules first, ML second</a:t>
            </a:r>
          </a:p>
        </p:txBody>
      </p:sp>
      <p:sp>
        <p:nvSpPr>
          <p:cNvPr id="21" name="TextBox 20"/>
          <p:cNvSpPr txBox="1"/>
          <p:nvPr/>
        </p:nvSpPr>
        <p:spPr>
          <a:xfrm>
            <a:off x="731520" y="4754879"/>
            <a:ext cx="5120640" cy="1280160"/>
          </a:xfrm>
          <a:prstGeom prst="rect">
            <a:avLst/>
          </a:prstGeom>
          <a:noFill/>
        </p:spPr>
        <p:txBody>
          <a:bodyPr wrap="square">
            <a:spAutoFit/>
          </a:bodyPr>
          <a:lstStyle/>
          <a:p>
            <a:r>
              <a:rPr sz="1200" b="0">
                <a:solidFill>
                  <a:srgbClr val="E8F0F7"/>
                </a:solidFill>
                <a:latin typeface="Segoe UI"/>
              </a:rPr>
              <a:t>Any hard violation forces BLOCK. The ML model can escalate ALLOW to CHALLENGE or BLOCK, but can never relax a hard finding; an ML-only BLOCK needs structural corroboration.</a:t>
            </a:r>
          </a:p>
        </p:txBody>
      </p:sp>
      <p:sp>
        <p:nvSpPr>
          <p:cNvPr id="22" name="Rounded Rectangle 21"/>
          <p:cNvSpPr/>
          <p:nvPr/>
        </p:nvSpPr>
        <p:spPr>
          <a:xfrm>
            <a:off x="6217920" y="4206240"/>
            <a:ext cx="5394960" cy="1920240"/>
          </a:xfrm>
          <a:prstGeom prst="roundRect">
            <a:avLst>
              <a:gd name="adj" fmla="val 6000"/>
            </a:avLst>
          </a:prstGeom>
          <a:solidFill>
            <a:srgbClr val="0C1A28"/>
          </a:solidFill>
          <a:ln w="15240">
            <a:solidFill>
              <a:srgbClr val="FFB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4343400"/>
            <a:ext cx="5029200" cy="365760"/>
          </a:xfrm>
          <a:prstGeom prst="rect">
            <a:avLst/>
          </a:prstGeom>
          <a:noFill/>
        </p:spPr>
        <p:txBody>
          <a:bodyPr wrap="square">
            <a:spAutoFit/>
          </a:bodyPr>
          <a:lstStyle/>
          <a:p>
            <a:r>
              <a:rPr sz="1500" b="1">
                <a:solidFill>
                  <a:srgbClr val="FFBC5C"/>
                </a:solidFill>
                <a:latin typeface="Segoe UI"/>
              </a:rPr>
              <a:t>Human review that cannot be replayed</a:t>
            </a:r>
          </a:p>
        </p:txBody>
      </p:sp>
      <p:sp>
        <p:nvSpPr>
          <p:cNvPr id="24" name="TextBox 23"/>
          <p:cNvSpPr txBox="1"/>
          <p:nvPr/>
        </p:nvSpPr>
        <p:spPr>
          <a:xfrm>
            <a:off x="6400800" y="4754879"/>
            <a:ext cx="5029200" cy="1280160"/>
          </a:xfrm>
          <a:prstGeom prst="rect">
            <a:avLst/>
          </a:prstGeom>
          <a:noFill/>
        </p:spPr>
        <p:txBody>
          <a:bodyPr wrap="square">
            <a:spAutoFit/>
          </a:bodyPr>
          <a:lstStyle/>
          <a:p>
            <a:r>
              <a:rPr sz="1200" b="0">
                <a:solidFill>
                  <a:srgbClr val="E8F0F7"/>
                </a:solidFill>
                <a:latin typeface="Segoe UI"/>
              </a:rPr>
              <a:t>Supervisor grants are single-use, expire in 120 s, are bound to the exact action fingerprint and are re-validated against live conditions before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TECHNICAL ARCHITECTURE</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Operator → Agent → IntentGate Z on IBM LinuxONE → Tools</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pic>
        <p:nvPicPr>
          <p:cNvPr id="7" name="Picture 6" descr="architecture.png"/>
          <p:cNvPicPr>
            <a:picLocks noChangeAspect="1"/>
          </p:cNvPicPr>
          <p:nvPr/>
        </p:nvPicPr>
        <p:blipFill>
          <a:blip r:embed="rId2"/>
          <a:stretch>
            <a:fillRect/>
          </a:stretch>
        </p:blipFill>
        <p:spPr>
          <a:xfrm>
            <a:off x="1990191" y="1691640"/>
            <a:ext cx="8209280" cy="46177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THE PRODUCT</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A 3D command center that shows only server-issued outcomes</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pic>
        <p:nvPicPr>
          <p:cNvPr id="7" name="Picture 6" descr="command_center.png"/>
          <p:cNvPicPr>
            <a:picLocks noChangeAspect="1"/>
          </p:cNvPicPr>
          <p:nvPr/>
        </p:nvPicPr>
        <p:blipFill>
          <a:blip r:embed="rId2"/>
          <a:stretch>
            <a:fillRect/>
          </a:stretch>
        </p:blipFill>
        <p:spPr>
          <a:xfrm>
            <a:off x="548640" y="1691640"/>
            <a:ext cx="7498079" cy="4217669"/>
          </a:xfrm>
          <a:prstGeom prst="rect">
            <a:avLst/>
          </a:prstGeom>
        </p:spPr>
      </p:pic>
      <p:sp>
        <p:nvSpPr>
          <p:cNvPr id="8" name="Rounded Rectangle 7"/>
          <p:cNvSpPr/>
          <p:nvPr/>
        </p:nvSpPr>
        <p:spPr>
          <a:xfrm>
            <a:off x="8229600" y="1691640"/>
            <a:ext cx="3383280" cy="137160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0" y="1828800"/>
            <a:ext cx="3017520" cy="365760"/>
          </a:xfrm>
          <a:prstGeom prst="rect">
            <a:avLst/>
          </a:prstGeom>
          <a:noFill/>
        </p:spPr>
        <p:txBody>
          <a:bodyPr wrap="square">
            <a:spAutoFit/>
          </a:bodyPr>
          <a:lstStyle/>
          <a:p>
            <a:r>
              <a:rPr sz="1400" b="1">
                <a:solidFill>
                  <a:srgbClr val="00D5B5"/>
                </a:solidFill>
                <a:latin typeface="Segoe UI"/>
              </a:rPr>
              <a:t>ALLOW</a:t>
            </a:r>
          </a:p>
        </p:txBody>
      </p:sp>
      <p:sp>
        <p:nvSpPr>
          <p:cNvPr id="10" name="TextBox 9"/>
          <p:cNvSpPr txBox="1"/>
          <p:nvPr/>
        </p:nvSpPr>
        <p:spPr>
          <a:xfrm>
            <a:off x="8412480" y="2240280"/>
            <a:ext cx="3017520" cy="731520"/>
          </a:xfrm>
          <a:prstGeom prst="rect">
            <a:avLst/>
          </a:prstGeom>
          <a:noFill/>
        </p:spPr>
        <p:txBody>
          <a:bodyPr wrap="square">
            <a:spAutoFit/>
          </a:bodyPr>
          <a:lstStyle/>
          <a:p>
            <a:r>
              <a:rPr sz="1100" b="0">
                <a:solidFill>
                  <a:srgbClr val="E8F0F7"/>
                </a:solidFill>
                <a:latin typeface="Segoe UI"/>
              </a:rPr>
              <a:t>Reroute around a closure: ambulance follows the authorised route.</a:t>
            </a:r>
          </a:p>
        </p:txBody>
      </p:sp>
      <p:sp>
        <p:nvSpPr>
          <p:cNvPr id="11" name="Rounded Rectangle 10"/>
          <p:cNvSpPr/>
          <p:nvPr/>
        </p:nvSpPr>
        <p:spPr>
          <a:xfrm>
            <a:off x="8229600" y="3154680"/>
            <a:ext cx="3383280" cy="1371600"/>
          </a:xfrm>
          <a:prstGeom prst="roundRect">
            <a:avLst>
              <a:gd name="adj" fmla="val 6000"/>
            </a:avLst>
          </a:prstGeom>
          <a:solidFill>
            <a:srgbClr val="0C1A28"/>
          </a:solidFill>
          <a:ln w="15240">
            <a:solidFill>
              <a:srgbClr val="FFB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0" y="3291840"/>
            <a:ext cx="3017520" cy="365760"/>
          </a:xfrm>
          <a:prstGeom prst="rect">
            <a:avLst/>
          </a:prstGeom>
          <a:noFill/>
        </p:spPr>
        <p:txBody>
          <a:bodyPr wrap="square">
            <a:spAutoFit/>
          </a:bodyPr>
          <a:lstStyle/>
          <a:p>
            <a:r>
              <a:rPr sz="1400" b="1">
                <a:solidFill>
                  <a:srgbClr val="FFBC5C"/>
                </a:solidFill>
                <a:latin typeface="Segoe UI"/>
              </a:rPr>
              <a:t>CHALLENGE</a:t>
            </a:r>
          </a:p>
        </p:txBody>
      </p:sp>
      <p:sp>
        <p:nvSpPr>
          <p:cNvPr id="13" name="TextBox 12"/>
          <p:cNvSpPr txBox="1"/>
          <p:nvPr/>
        </p:nvSpPr>
        <p:spPr>
          <a:xfrm>
            <a:off x="8412480" y="3703320"/>
            <a:ext cx="3017520" cy="731520"/>
          </a:xfrm>
          <a:prstGeom prst="rect">
            <a:avLst/>
          </a:prstGeom>
          <a:noFill/>
        </p:spPr>
        <p:txBody>
          <a:bodyPr wrap="square">
            <a:spAutoFit/>
          </a:bodyPr>
          <a:lstStyle/>
          <a:p>
            <a:r>
              <a:rPr sz="1100" b="0">
                <a:solidFill>
                  <a:srgbClr val="E8F0F7"/>
                </a:solidFill>
                <a:latin typeface="Segoe UI"/>
              </a:rPr>
              <a:t>$200k order held; supervisor grant, replay and tamper tests refused by the server.</a:t>
            </a:r>
          </a:p>
        </p:txBody>
      </p:sp>
      <p:sp>
        <p:nvSpPr>
          <p:cNvPr id="14" name="Rounded Rectangle 13"/>
          <p:cNvSpPr/>
          <p:nvPr/>
        </p:nvSpPr>
        <p:spPr>
          <a:xfrm>
            <a:off x="8229600" y="4617720"/>
            <a:ext cx="3383280" cy="1463040"/>
          </a:xfrm>
          <a:prstGeom prst="roundRect">
            <a:avLst>
              <a:gd name="adj" fmla="val 6000"/>
            </a:avLst>
          </a:prstGeom>
          <a:solidFill>
            <a:srgbClr val="0C1A28"/>
          </a:solidFill>
          <a:ln w="15240">
            <a:solidFill>
              <a:srgbClr val="FF5D7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4754880"/>
            <a:ext cx="3017520" cy="365760"/>
          </a:xfrm>
          <a:prstGeom prst="rect">
            <a:avLst/>
          </a:prstGeom>
          <a:noFill/>
        </p:spPr>
        <p:txBody>
          <a:bodyPr wrap="square">
            <a:spAutoFit/>
          </a:bodyPr>
          <a:lstStyle/>
          <a:p>
            <a:r>
              <a:rPr sz="1400" b="1">
                <a:solidFill>
                  <a:srgbClr val="FF5D70"/>
                </a:solidFill>
                <a:latin typeface="Segoe UI"/>
              </a:rPr>
              <a:t>BLOCK</a:t>
            </a:r>
          </a:p>
        </p:txBody>
      </p:sp>
      <p:sp>
        <p:nvSpPr>
          <p:cNvPr id="16" name="TextBox 15"/>
          <p:cNvSpPr txBox="1"/>
          <p:nvPr/>
        </p:nvSpPr>
        <p:spPr>
          <a:xfrm>
            <a:off x="8412480" y="5166359"/>
            <a:ext cx="3017520" cy="822960"/>
          </a:xfrm>
          <a:prstGeom prst="rect">
            <a:avLst/>
          </a:prstGeom>
          <a:noFill/>
        </p:spPr>
        <p:txBody>
          <a:bodyPr wrap="square">
            <a:spAutoFit/>
          </a:bodyPr>
          <a:lstStyle/>
          <a:p>
            <a:r>
              <a:rPr sz="1100" b="0">
                <a:solidFill>
                  <a:srgbClr val="E8F0F7"/>
                </a:solidFill>
                <a:latin typeface="Segoe UI"/>
              </a:rPr>
              <a:t>Injected redirect stopped; ghost route shown, the real unit never moves.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IBM Z TECHNICAL EXECUTION</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The decision engine, models and audit run on IBM LinuxONE</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Rounded Rectangle 6"/>
          <p:cNvSpPr/>
          <p:nvPr/>
        </p:nvSpPr>
        <p:spPr>
          <a:xfrm>
            <a:off x="548640" y="1783080"/>
            <a:ext cx="6035040" cy="3246120"/>
          </a:xfrm>
          <a:prstGeom prst="roundRect">
            <a:avLst>
              <a:gd name="adj" fmla="val 6000"/>
            </a:avLst>
          </a:prstGeom>
          <a:solidFill>
            <a:srgbClr val="0C1A28"/>
          </a:solidFill>
          <a:ln w="1524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5669279" cy="365760"/>
          </a:xfrm>
          <a:prstGeom prst="rect">
            <a:avLst/>
          </a:prstGeom>
          <a:noFill/>
        </p:spPr>
        <p:txBody>
          <a:bodyPr wrap="square">
            <a:spAutoFit/>
          </a:bodyPr>
          <a:lstStyle/>
          <a:p>
            <a:r>
              <a:rPr sz="1500" b="1">
                <a:solidFill>
                  <a:srgbClr val="0F62FE"/>
                </a:solidFill>
                <a:latin typeface="Segoe UI"/>
              </a:rPr>
              <a:t>Verified on the VM (evidence/ibmz)</a:t>
            </a:r>
          </a:p>
        </p:txBody>
      </p:sp>
      <p:sp>
        <p:nvSpPr>
          <p:cNvPr id="9" name="TextBox 8"/>
          <p:cNvSpPr txBox="1"/>
          <p:nvPr/>
        </p:nvSpPr>
        <p:spPr>
          <a:xfrm>
            <a:off x="731520" y="2331720"/>
            <a:ext cx="5669279" cy="2606039"/>
          </a:xfrm>
          <a:prstGeom prst="rect">
            <a:avLst/>
          </a:prstGeom>
          <a:noFill/>
        </p:spPr>
        <p:txBody>
          <a:bodyPr wrap="square">
            <a:spAutoFit/>
          </a:bodyPr>
          <a:lstStyle/>
          <a:p>
            <a:r>
              <a:rPr sz="1300" b="0">
                <a:solidFill>
                  <a:srgbClr val="E8F0F7"/>
                </a:solidFill>
                <a:latin typeface="Segoe UI"/>
              </a:rPr>
              <a:t>Architecture (uname -m): s390x</a:t>
            </a:r>
          </a:p>
          <a:p>
            <a:r>
              <a:rPr sz="1300" b="0">
                <a:solidFill>
                  <a:srgbClr val="E8F0F7"/>
                </a:solidFill>
                <a:latin typeface="Segoe UI"/>
              </a:rPr>
              <a:t>Machine type 9175 = IBM z17, model 702 ME1</a:t>
            </a:r>
          </a:p>
          <a:p>
            <a:r>
              <a:rPr sz="1300" b="0">
                <a:solidFill>
                  <a:srgbClr val="E8F0F7"/>
                </a:solidFill>
                <a:latin typeface="Segoe UI"/>
              </a:rPr>
              <a:t>Guest of z/VM 7.3.0</a:t>
            </a:r>
          </a:p>
          <a:p>
            <a:r>
              <a:rPr sz="1300" b="0">
                <a:solidFill>
                  <a:srgbClr val="E8F0F7"/>
                </a:solidFill>
                <a:latin typeface="Segoe UI"/>
              </a:rPr>
              <a:t>NNPA facility in /proc/cpuinfo features: yes</a:t>
            </a:r>
          </a:p>
          <a:p>
            <a:r>
              <a:rPr sz="1300" b="0">
                <a:solidFill>
                  <a:srgbClr val="E8F0F7"/>
                </a:solidFill>
                <a:latin typeface="Segoe UI"/>
              </a:rPr>
              <a:t>Backend: FastAPI in Docker, built FROM the LinuxONE Community Cloud s390x AI/ML image</a:t>
            </a:r>
          </a:p>
          <a:p>
            <a:r>
              <a:rPr sz="1300" b="0">
                <a:solidFill>
                  <a:srgbClr val="E8F0F7"/>
                </a:solidFill>
                <a:latin typeface="Segoe UI"/>
              </a:rPr>
              <a:t>Models trained and evaluated on LinuxONE: scikit-learn, XGBoost, PyTorch</a:t>
            </a:r>
          </a:p>
          <a:p>
            <a:r>
              <a:rPr sz="1300" b="0">
                <a:solidFill>
                  <a:srgbClr val="E8F0F7"/>
                </a:solidFill>
                <a:latin typeface="Segoe UI"/>
              </a:rPr>
              <a:t>HTTPS via Caddy on the VM; Jupyter only through an SSH tunnel</a:t>
            </a:r>
          </a:p>
        </p:txBody>
      </p:sp>
      <p:sp>
        <p:nvSpPr>
          <p:cNvPr id="10" name="Rounded Rectangle 9"/>
          <p:cNvSpPr/>
          <p:nvPr/>
        </p:nvSpPr>
        <p:spPr>
          <a:xfrm>
            <a:off x="6766560" y="1783080"/>
            <a:ext cx="4846320" cy="324612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1920240"/>
            <a:ext cx="4480559" cy="365760"/>
          </a:xfrm>
          <a:prstGeom prst="rect">
            <a:avLst/>
          </a:prstGeom>
          <a:noFill/>
        </p:spPr>
        <p:txBody>
          <a:bodyPr wrap="square">
            <a:spAutoFit/>
          </a:bodyPr>
          <a:lstStyle/>
          <a:p>
            <a:r>
              <a:rPr sz="1500" b="1">
                <a:solidFill>
                  <a:srgbClr val="00D5B5"/>
                </a:solidFill>
                <a:latin typeface="Segoe UI"/>
              </a:rPr>
              <a:t>Gateway speed on LinuxONE</a:t>
            </a:r>
          </a:p>
        </p:txBody>
      </p:sp>
      <p:sp>
        <p:nvSpPr>
          <p:cNvPr id="12" name="TextBox 11"/>
          <p:cNvSpPr txBox="1"/>
          <p:nvPr/>
        </p:nvSpPr>
        <p:spPr>
          <a:xfrm>
            <a:off x="6949440" y="2331720"/>
            <a:ext cx="4480559" cy="2606039"/>
          </a:xfrm>
          <a:prstGeom prst="rect">
            <a:avLst/>
          </a:prstGeom>
          <a:noFill/>
        </p:spPr>
        <p:txBody>
          <a:bodyPr wrap="square">
            <a:spAutoFit/>
          </a:bodyPr>
          <a:lstStyle/>
          <a:p>
            <a:r>
              <a:rPr sz="1300" b="0">
                <a:solidFill>
                  <a:srgbClr val="E8F0F7"/>
                </a:solidFill>
                <a:latin typeface="Segoe UI"/>
              </a:rPr>
              <a:t>In-process decision p50 0.412 ms, p95 0.641 ms</a:t>
            </a:r>
          </a:p>
          <a:p>
            <a:r>
              <a:rPr sz="1300" b="0">
                <a:solidFill>
                  <a:srgbClr val="E8F0F7"/>
                </a:solidFill>
                <a:latin typeface="Segoe UI"/>
              </a:rPr>
              <a:t>1,407.4 decisions/s, one thread, incl. audit writes</a:t>
            </a:r>
          </a:p>
          <a:p>
            <a:r>
              <a:rPr sz="1300" b="0">
                <a:solidFill>
                  <a:srgbClr val="E8F0F7"/>
                </a:solidFill>
                <a:latin typeface="Segoe UI"/>
              </a:rPr>
              <a:t>HTTP, concurrency 1: p50 2.234 ms, 372.7 req/s, 0 errors</a:t>
            </a:r>
          </a:p>
          <a:p>
            <a:r>
              <a:rPr sz="1300" b="0">
                <a:solidFill>
                  <a:srgbClr val="E8F0F7"/>
                </a:solidFill>
                <a:latin typeface="Segoe UI"/>
              </a:rPr>
              <a:t>HTTP, concurrency 8: p50 15.689 ms, 395.6 req/s, 0 errors</a:t>
            </a:r>
          </a:p>
          <a:p>
            <a:r>
              <a:rPr sz="1300" b="0">
                <a:solidFill>
                  <a:srgbClr val="E8F0F7"/>
                </a:solidFill>
                <a:latin typeface="Segoe UI"/>
              </a:rPr>
              <a:t>Measured on the 2-vCPU / 4 GB LinuxONE VM</a:t>
            </a:r>
          </a:p>
        </p:txBody>
      </p:sp>
      <p:pic>
        <p:nvPicPr>
          <p:cNvPr id="13" name="Picture 12" descr="proof.png"/>
          <p:cNvPicPr>
            <a:picLocks noChangeAspect="1"/>
          </p:cNvPicPr>
          <p:nvPr/>
        </p:nvPicPr>
        <p:blipFill>
          <a:blip r:embed="rId2"/>
          <a:stretch>
            <a:fillRect/>
          </a:stretch>
        </p:blipFill>
        <p:spPr>
          <a:xfrm>
            <a:off x="548640" y="5166360"/>
            <a:ext cx="1828800" cy="1143000"/>
          </a:xfrm>
          <a:prstGeom prst="rect">
            <a:avLst/>
          </a:prstGeom>
        </p:spPr>
      </p:pic>
      <p:sp>
        <p:nvSpPr>
          <p:cNvPr id="14" name="TextBox 13"/>
          <p:cNvSpPr txBox="1"/>
          <p:nvPr/>
        </p:nvSpPr>
        <p:spPr>
          <a:xfrm>
            <a:off x="2514600" y="5257800"/>
            <a:ext cx="9052560" cy="914400"/>
          </a:xfrm>
          <a:prstGeom prst="rect">
            <a:avLst/>
          </a:prstGeom>
          <a:noFill/>
        </p:spPr>
        <p:txBody>
          <a:bodyPr wrap="square">
            <a:spAutoFit/>
          </a:bodyPr>
          <a:lstStyle/>
          <a:p>
            <a:r>
              <a:rPr sz="1300" b="0">
                <a:solidFill>
                  <a:srgbClr val="8496A8"/>
                </a:solidFill>
                <a:latin typeface="Segoe UI"/>
              </a:rPr>
              <a:t>The console's IBM Z Proof screen reads every value above live from the s390x backend (/api/platform, /api/model/info, /api/metrics); nothing on it is hard-coded.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IBM TELUM ON-CHIP AI ACCELERATOR</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The live risk model runs on the NNPA, verified on device</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pic>
        <p:nvPicPr>
          <p:cNvPr id="7" name="Picture 6" descr="nnpa_vs_cpu.png"/>
          <p:cNvPicPr>
            <a:picLocks noChangeAspect="1"/>
          </p:cNvPicPr>
          <p:nvPr/>
        </p:nvPicPr>
        <p:blipFill>
          <a:blip r:embed="rId2"/>
          <a:stretch>
            <a:fillRect/>
          </a:stretch>
        </p:blipFill>
        <p:spPr>
          <a:xfrm>
            <a:off x="548640" y="1737360"/>
            <a:ext cx="6949440" cy="3474720"/>
          </a:xfrm>
          <a:prstGeom prst="rect">
            <a:avLst/>
          </a:prstGeom>
        </p:spPr>
      </p:pic>
      <p:sp>
        <p:nvSpPr>
          <p:cNvPr id="8" name="Rounded Rectangle 7"/>
          <p:cNvSpPr/>
          <p:nvPr/>
        </p:nvSpPr>
        <p:spPr>
          <a:xfrm>
            <a:off x="7680960" y="1737360"/>
            <a:ext cx="3931920" cy="448056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0" y="1874519"/>
            <a:ext cx="3566160" cy="365760"/>
          </a:xfrm>
          <a:prstGeom prst="rect">
            <a:avLst/>
          </a:prstGeom>
          <a:noFill/>
        </p:spPr>
        <p:txBody>
          <a:bodyPr wrap="square">
            <a:spAutoFit/>
          </a:bodyPr>
          <a:lstStyle/>
          <a:p>
            <a:r>
              <a:rPr sz="1500" b="1">
                <a:solidFill>
                  <a:srgbClr val="00D5B5"/>
                </a:solidFill>
                <a:latin typeface="Segoe UI"/>
              </a:rPr>
              <a:t>Measured, not assumed</a:t>
            </a:r>
          </a:p>
        </p:txBody>
      </p:sp>
      <p:sp>
        <p:nvSpPr>
          <p:cNvPr id="10" name="TextBox 9"/>
          <p:cNvSpPr txBox="1"/>
          <p:nvPr/>
        </p:nvSpPr>
        <p:spPr>
          <a:xfrm>
            <a:off x="7863840" y="2286000"/>
            <a:ext cx="3566160" cy="3840480"/>
          </a:xfrm>
          <a:prstGeom prst="rect">
            <a:avLst/>
          </a:prstGeom>
          <a:noFill/>
        </p:spPr>
        <p:txBody>
          <a:bodyPr wrap="square">
            <a:spAutoFit/>
          </a:bodyPr>
          <a:lstStyle/>
          <a:p>
            <a:r>
              <a:rPr sz="1200" b="0">
                <a:solidFill>
                  <a:srgbClr val="E8F0F7"/>
                </a:solidFill>
                <a:latin typeface="Segoe UI"/>
              </a:rPr>
              <a:t>torch_nnpa 1.5.0+gite861108: device available, smoke test passed</a:t>
            </a:r>
          </a:p>
          <a:p>
            <a:r>
              <a:rPr sz="1200" b="0">
                <a:solidFill>
                  <a:srgbClr val="E8F0F7"/>
                </a:solidFill>
                <a:latin typeface="Segoe UI"/>
              </a:rPr>
              <a:t>Model parameters / outputs on device: nnpa / nnpa</a:t>
            </a:r>
          </a:p>
          <a:p>
            <a:r>
              <a:rPr sz="1200" b="0">
                <a:solidFill>
                  <a:srgbClr val="E8F0F7"/>
                </a:solidFill>
                <a:latin typeface="Segoe UI"/>
              </a:rPr>
              <a:t>Same weights and inputs as on CPU: max |Δp| 0.002015, argmax agreement 99.95%</a:t>
            </a:r>
          </a:p>
          <a:p>
            <a:r>
              <a:rPr sz="1200" b="0">
                <a:solidFill>
                  <a:srgbClr val="E8F0F7"/>
                </a:solidFill>
                <a:latin typeface="Segoe UI"/>
              </a:rPr>
              <a:t>CPU / NNPA time: batch 1: 0.83×, batch 16: 0.95×, batch 128: 1.59×, batch 1024: 2.15×, batch 8192: 1.54×</a:t>
            </a:r>
          </a:p>
          <a:p>
            <a:r>
              <a:rPr sz="1200" b="0">
                <a:solidFill>
                  <a:srgbClr val="E8F0F7"/>
                </a:solidFill>
                <a:latin typeface="Segoe UI"/>
              </a:rPr>
              <a:t>Single rows are faster on CPU; from batch 128 the NNPA wins, up to 2.15× at batch 1024.</a:t>
            </a:r>
          </a:p>
          <a:p>
            <a:r>
              <a:rPr sz="1200" b="0">
                <a:solidFill>
                  <a:srgbClr val="E8F0F7"/>
                </a:solidFill>
                <a:latin typeface="Segoe UI"/>
              </a:rPr>
              <a:t>TensorFlow's zDNN plugin exposes no NNPA device here, so TF acceleration is not claimed.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RESULTS (HELD-OUT TEST SETS, UNSEEN TEXT TEMPLATES)</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Fewest unsafe actions let through, and zero false blocks</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TextBox 6"/>
          <p:cNvSpPr txBox="1"/>
          <p:nvPr/>
        </p:nvSpPr>
        <p:spPr>
          <a:xfrm>
            <a:off x="548640" y="1737360"/>
            <a:ext cx="10972800" cy="365760"/>
          </a:xfrm>
          <a:prstGeom prst="rect">
            <a:avLst/>
          </a:prstGeom>
          <a:noFill/>
        </p:spPr>
        <p:txBody>
          <a:bodyPr wrap="square">
            <a:spAutoFit/>
          </a:bodyPr>
          <a:lstStyle/>
          <a:p>
            <a:r>
              <a:rPr sz="1300" b="0">
                <a:solidFill>
                  <a:srgbClr val="8496A8"/>
                </a:solidFill>
                <a:latin typeface="Segoe UI"/>
              </a:rPr>
              <a:t>Mean over 5 independently generated datasets, trained and scored on s390x</a:t>
            </a:r>
          </a:p>
        </p:txBody>
      </p:sp>
      <p:sp>
        <p:nvSpPr>
          <p:cNvPr id="8" name="TextBox 7"/>
          <p:cNvSpPr txBox="1"/>
          <p:nvPr/>
        </p:nvSpPr>
        <p:spPr>
          <a:xfrm>
            <a:off x="548640" y="2148840"/>
            <a:ext cx="3291840" cy="411480"/>
          </a:xfrm>
          <a:prstGeom prst="rect">
            <a:avLst/>
          </a:prstGeom>
          <a:noFill/>
        </p:spPr>
        <p:txBody>
          <a:bodyPr wrap="square">
            <a:spAutoFit/>
          </a:bodyPr>
          <a:lstStyle/>
          <a:p>
            <a:r>
              <a:rPr sz="1500" b="0">
                <a:solidFill>
                  <a:srgbClr val="E8F0F7"/>
                </a:solidFill>
                <a:latin typeface="Segoe UI"/>
              </a:rPr>
              <a:t>Hard policy only</a:t>
            </a:r>
          </a:p>
        </p:txBody>
      </p:sp>
      <p:sp>
        <p:nvSpPr>
          <p:cNvPr id="9" name="TextBox 8"/>
          <p:cNvSpPr txBox="1"/>
          <p:nvPr/>
        </p:nvSpPr>
        <p:spPr>
          <a:xfrm>
            <a:off x="3657600" y="2148840"/>
            <a:ext cx="7955279" cy="411480"/>
          </a:xfrm>
          <a:prstGeom prst="rect">
            <a:avLst/>
          </a:prstGeom>
          <a:noFill/>
        </p:spPr>
        <p:txBody>
          <a:bodyPr wrap="square">
            <a:spAutoFit/>
          </a:bodyPr>
          <a:lstStyle/>
          <a:p>
            <a:r>
              <a:rPr sz="1500" b="0">
                <a:solidFill>
                  <a:srgbClr val="E8F0F7"/>
                </a:solidFill>
                <a:latin typeface="Consolas"/>
              </a:rPr>
              <a:t>unsafe let through 5.3%   legit blocked 0.0%   macro-F1 0.914</a:t>
            </a:r>
          </a:p>
        </p:txBody>
      </p:sp>
      <p:sp>
        <p:nvSpPr>
          <p:cNvPr id="10" name="TextBox 9"/>
          <p:cNvSpPr txBox="1"/>
          <p:nvPr/>
        </p:nvSpPr>
        <p:spPr>
          <a:xfrm>
            <a:off x="548640" y="2606040"/>
            <a:ext cx="3291840" cy="411480"/>
          </a:xfrm>
          <a:prstGeom prst="rect">
            <a:avLst/>
          </a:prstGeom>
          <a:noFill/>
        </p:spPr>
        <p:txBody>
          <a:bodyPr wrap="square">
            <a:spAutoFit/>
          </a:bodyPr>
          <a:lstStyle/>
          <a:p>
            <a:r>
              <a:rPr sz="1500" b="0">
                <a:solidFill>
                  <a:srgbClr val="E8F0F7"/>
                </a:solidFill>
                <a:latin typeface="Segoe UI"/>
              </a:rPr>
              <a:t>Rules + heuristics</a:t>
            </a:r>
          </a:p>
        </p:txBody>
      </p:sp>
      <p:sp>
        <p:nvSpPr>
          <p:cNvPr id="11" name="TextBox 10"/>
          <p:cNvSpPr txBox="1"/>
          <p:nvPr/>
        </p:nvSpPr>
        <p:spPr>
          <a:xfrm>
            <a:off x="3657600" y="2606040"/>
            <a:ext cx="7955279" cy="411480"/>
          </a:xfrm>
          <a:prstGeom prst="rect">
            <a:avLst/>
          </a:prstGeom>
          <a:noFill/>
        </p:spPr>
        <p:txBody>
          <a:bodyPr wrap="square">
            <a:spAutoFit/>
          </a:bodyPr>
          <a:lstStyle/>
          <a:p>
            <a:r>
              <a:rPr sz="1500" b="0">
                <a:solidFill>
                  <a:srgbClr val="E8F0F7"/>
                </a:solidFill>
                <a:latin typeface="Consolas"/>
              </a:rPr>
              <a:t>unsafe let through 3.8%   legit blocked 0.0%   macro-F1 0.919</a:t>
            </a:r>
          </a:p>
        </p:txBody>
      </p:sp>
      <p:sp>
        <p:nvSpPr>
          <p:cNvPr id="12" name="TextBox 11"/>
          <p:cNvSpPr txBox="1"/>
          <p:nvPr/>
        </p:nvSpPr>
        <p:spPr>
          <a:xfrm>
            <a:off x="548640" y="3063240"/>
            <a:ext cx="3291840" cy="411480"/>
          </a:xfrm>
          <a:prstGeom prst="rect">
            <a:avLst/>
          </a:prstGeom>
          <a:noFill/>
        </p:spPr>
        <p:txBody>
          <a:bodyPr wrap="square">
            <a:spAutoFit/>
          </a:bodyPr>
          <a:lstStyle/>
          <a:p>
            <a:r>
              <a:rPr sz="1500" b="0">
                <a:solidFill>
                  <a:srgbClr val="E8F0F7"/>
                </a:solidFill>
                <a:latin typeface="Segoe UI"/>
              </a:rPr>
              <a:t>ML only</a:t>
            </a:r>
          </a:p>
        </p:txBody>
      </p:sp>
      <p:sp>
        <p:nvSpPr>
          <p:cNvPr id="13" name="TextBox 12"/>
          <p:cNvSpPr txBox="1"/>
          <p:nvPr/>
        </p:nvSpPr>
        <p:spPr>
          <a:xfrm>
            <a:off x="3657600" y="3063240"/>
            <a:ext cx="7955279" cy="411480"/>
          </a:xfrm>
          <a:prstGeom prst="rect">
            <a:avLst/>
          </a:prstGeom>
          <a:noFill/>
        </p:spPr>
        <p:txBody>
          <a:bodyPr wrap="square">
            <a:spAutoFit/>
          </a:bodyPr>
          <a:lstStyle/>
          <a:p>
            <a:r>
              <a:rPr sz="1500" b="0">
                <a:solidFill>
                  <a:srgbClr val="E8F0F7"/>
                </a:solidFill>
                <a:latin typeface="Consolas"/>
              </a:rPr>
              <a:t>unsafe let through 3.4%   legit blocked 6.9%   macro-F1 0.920</a:t>
            </a:r>
          </a:p>
        </p:txBody>
      </p:sp>
      <p:sp>
        <p:nvSpPr>
          <p:cNvPr id="14" name="TextBox 13"/>
          <p:cNvSpPr txBox="1"/>
          <p:nvPr/>
        </p:nvSpPr>
        <p:spPr>
          <a:xfrm>
            <a:off x="548640" y="3520440"/>
            <a:ext cx="3291840" cy="411480"/>
          </a:xfrm>
          <a:prstGeom prst="rect">
            <a:avLst/>
          </a:prstGeom>
          <a:noFill/>
        </p:spPr>
        <p:txBody>
          <a:bodyPr wrap="square">
            <a:spAutoFit/>
          </a:bodyPr>
          <a:lstStyle/>
          <a:p>
            <a:r>
              <a:rPr sz="1500" b="1">
                <a:solidFill>
                  <a:srgbClr val="00D5B5"/>
                </a:solidFill>
                <a:latin typeface="Segoe UI"/>
              </a:rPr>
              <a:t>IntentGate Z hybrid</a:t>
            </a:r>
          </a:p>
        </p:txBody>
      </p:sp>
      <p:sp>
        <p:nvSpPr>
          <p:cNvPr id="15" name="TextBox 14"/>
          <p:cNvSpPr txBox="1"/>
          <p:nvPr/>
        </p:nvSpPr>
        <p:spPr>
          <a:xfrm>
            <a:off x="3657600" y="3520440"/>
            <a:ext cx="7955279" cy="411480"/>
          </a:xfrm>
          <a:prstGeom prst="rect">
            <a:avLst/>
          </a:prstGeom>
          <a:noFill/>
        </p:spPr>
        <p:txBody>
          <a:bodyPr wrap="square">
            <a:spAutoFit/>
          </a:bodyPr>
          <a:lstStyle/>
          <a:p>
            <a:r>
              <a:rPr sz="1500" b="0">
                <a:solidFill>
                  <a:srgbClr val="00D5B5"/>
                </a:solidFill>
                <a:latin typeface="Consolas"/>
              </a:rPr>
              <a:t>unsafe let through 0.8%   legit blocked 0.0%   macro-F1 0.918</a:t>
            </a:r>
          </a:p>
        </p:txBody>
      </p:sp>
      <p:sp>
        <p:nvSpPr>
          <p:cNvPr id="16" name="TextBox 15"/>
          <p:cNvSpPr txBox="1"/>
          <p:nvPr/>
        </p:nvSpPr>
        <p:spPr>
          <a:xfrm>
            <a:off x="548640" y="4023360"/>
            <a:ext cx="10972800" cy="365760"/>
          </a:xfrm>
          <a:prstGeom prst="rect">
            <a:avLst/>
          </a:prstGeom>
          <a:noFill/>
        </p:spPr>
        <p:txBody>
          <a:bodyPr wrap="square">
            <a:spAutoFit/>
          </a:bodyPr>
          <a:lstStyle/>
          <a:p>
            <a:r>
              <a:rPr sz="1200" b="0">
                <a:solidFill>
                  <a:srgbClr val="8496A8"/>
                </a:solidFill>
                <a:latin typeface="Segoe UI"/>
              </a:rPr>
              <a:t>Public attack text never seen in training, flagged by the feed model: InjecAgent 85.5%, AgentDojo 91.4%.</a:t>
            </a:r>
          </a:p>
        </p:txBody>
      </p:sp>
      <p:pic>
        <p:nvPicPr>
          <p:cNvPr id="17" name="Picture 16" descr="attack_family_detection.png"/>
          <p:cNvPicPr>
            <a:picLocks noChangeAspect="1"/>
          </p:cNvPicPr>
          <p:nvPr/>
        </p:nvPicPr>
        <p:blipFill>
          <a:blip r:embed="rId2"/>
          <a:stretch>
            <a:fillRect/>
          </a:stretch>
        </p:blipFill>
        <p:spPr>
          <a:xfrm>
            <a:off x="548640" y="4389120"/>
            <a:ext cx="2052513" cy="1920240"/>
          </a:xfrm>
          <a:prstGeom prst="rect">
            <a:avLst/>
          </a:prstGeom>
        </p:spPr>
      </p:pic>
      <p:pic>
        <p:nvPicPr>
          <p:cNvPr id="18" name="Picture 17" descr="method_comparison.png"/>
          <p:cNvPicPr>
            <a:picLocks noChangeAspect="1"/>
          </p:cNvPicPr>
          <p:nvPr/>
        </p:nvPicPr>
        <p:blipFill>
          <a:blip r:embed="rId3"/>
          <a:stretch>
            <a:fillRect/>
          </a:stretch>
        </p:blipFill>
        <p:spPr>
          <a:xfrm>
            <a:off x="6309360" y="4389120"/>
            <a:ext cx="4114800" cy="19202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B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11480"/>
            <a:ext cx="8229600" cy="320040"/>
          </a:xfrm>
          <a:prstGeom prst="rect">
            <a:avLst/>
          </a:prstGeom>
          <a:noFill/>
        </p:spPr>
        <p:txBody>
          <a:bodyPr wrap="square">
            <a:spAutoFit/>
          </a:bodyPr>
          <a:lstStyle/>
          <a:p>
            <a:r>
              <a:rPr sz="1200" b="0" spc="300">
                <a:solidFill>
                  <a:srgbClr val="8496A8"/>
                </a:solidFill>
                <a:latin typeface="Segoe UI"/>
              </a:rPr>
              <a:t>VALUE TO THE COMMUNITY AND ROADMAP</a:t>
            </a:r>
          </a:p>
        </p:txBody>
      </p:sp>
      <p:sp>
        <p:nvSpPr>
          <p:cNvPr id="4" name="TextBox 3"/>
          <p:cNvSpPr txBox="1"/>
          <p:nvPr/>
        </p:nvSpPr>
        <p:spPr>
          <a:xfrm>
            <a:off x="548640" y="685800"/>
            <a:ext cx="11155680" cy="822960"/>
          </a:xfrm>
          <a:prstGeom prst="rect">
            <a:avLst/>
          </a:prstGeom>
          <a:noFill/>
        </p:spPr>
        <p:txBody>
          <a:bodyPr wrap="square">
            <a:spAutoFit/>
          </a:bodyPr>
          <a:lstStyle/>
          <a:p>
            <a:r>
              <a:rPr sz="2500" b="1">
                <a:solidFill>
                  <a:srgbClr val="E8F0F7"/>
                </a:solidFill>
                <a:latin typeface="Segoe UI"/>
              </a:rPr>
              <a:t>Safer automation where mistakes cost lives or money</a:t>
            </a:r>
          </a:p>
        </p:txBody>
      </p:sp>
      <p:sp>
        <p:nvSpPr>
          <p:cNvPr id="5" name="Rectangle 4"/>
          <p:cNvSpPr/>
          <p:nvPr/>
        </p:nvSpPr>
        <p:spPr>
          <a:xfrm>
            <a:off x="548640" y="1481328"/>
            <a:ext cx="822960" cy="38000"/>
          </a:xfrm>
          <a:prstGeom prst="rect">
            <a:avLst/>
          </a:prstGeom>
          <a:solidFill>
            <a:srgbClr val="00D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5486400" cy="274320"/>
          </a:xfrm>
          <a:prstGeom prst="rect">
            <a:avLst/>
          </a:prstGeom>
          <a:noFill/>
        </p:spPr>
        <p:txBody>
          <a:bodyPr wrap="square">
            <a:spAutoFit/>
          </a:bodyPr>
          <a:lstStyle/>
          <a:p>
            <a:r>
              <a:rPr sz="1000" b="0">
                <a:solidFill>
                  <a:srgbClr val="8496A8"/>
                </a:solidFill>
                <a:latin typeface="Segoe UI"/>
              </a:rPr>
              <a:t>INTENTGATE Z  ·  IBM Z Datathon 2026</a:t>
            </a:r>
          </a:p>
        </p:txBody>
      </p:sp>
      <p:sp>
        <p:nvSpPr>
          <p:cNvPr id="7" name="Rounded Rectangle 6"/>
          <p:cNvSpPr/>
          <p:nvPr/>
        </p:nvSpPr>
        <p:spPr>
          <a:xfrm>
            <a:off x="548640" y="1783080"/>
            <a:ext cx="3566160" cy="2377440"/>
          </a:xfrm>
          <a:prstGeom prst="roundRect">
            <a:avLst>
              <a:gd name="adj" fmla="val 6000"/>
            </a:avLst>
          </a:prstGeom>
          <a:solidFill>
            <a:srgbClr val="0C1A28"/>
          </a:solidFill>
          <a:ln w="15240">
            <a:solidFill>
              <a:srgbClr val="00D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920240"/>
            <a:ext cx="3200400" cy="365760"/>
          </a:xfrm>
          <a:prstGeom prst="rect">
            <a:avLst/>
          </a:prstGeom>
          <a:noFill/>
        </p:spPr>
        <p:txBody>
          <a:bodyPr wrap="square">
            <a:spAutoFit/>
          </a:bodyPr>
          <a:lstStyle/>
          <a:p>
            <a:r>
              <a:rPr sz="1500" b="1">
                <a:solidFill>
                  <a:srgbClr val="00D5B5"/>
                </a:solidFill>
                <a:latin typeface="Segoe UI"/>
              </a:rPr>
              <a:t>Who benefits</a:t>
            </a:r>
          </a:p>
        </p:txBody>
      </p:sp>
      <p:sp>
        <p:nvSpPr>
          <p:cNvPr id="9" name="TextBox 8"/>
          <p:cNvSpPr txBox="1"/>
          <p:nvPr/>
        </p:nvSpPr>
        <p:spPr>
          <a:xfrm>
            <a:off x="731520" y="2331720"/>
            <a:ext cx="3200400" cy="1737360"/>
          </a:xfrm>
          <a:prstGeom prst="rect">
            <a:avLst/>
          </a:prstGeom>
          <a:noFill/>
        </p:spPr>
        <p:txBody>
          <a:bodyPr wrap="square">
            <a:spAutoFit/>
          </a:bodyPr>
          <a:lstStyle/>
          <a:p>
            <a:r>
              <a:rPr sz="1200" b="0">
                <a:solidFill>
                  <a:srgbClr val="E8F0F7"/>
                </a:solidFill>
                <a:latin typeface="Segoe UI"/>
              </a:rPr>
              <a:t>EMS dispatchers and hospital command centres</a:t>
            </a:r>
          </a:p>
          <a:p>
            <a:r>
              <a:rPr sz="1200" b="0">
                <a:solidFill>
                  <a:srgbClr val="E8F0F7"/>
                </a:solidFill>
                <a:latin typeface="Segoe UI"/>
              </a:rPr>
              <a:t>Public emergency agencies</a:t>
            </a:r>
          </a:p>
          <a:p>
            <a:r>
              <a:rPr sz="1200" b="0">
                <a:solidFill>
                  <a:srgbClr val="E8F0F7"/>
                </a:solidFill>
                <a:latin typeface="Segoe UI"/>
              </a:rPr>
              <a:t>Healthcare IT and security teams</a:t>
            </a:r>
          </a:p>
          <a:p>
            <a:r>
              <a:rPr sz="1200" b="0">
                <a:solidFill>
                  <a:srgbClr val="E8F0F7"/>
                </a:solidFill>
                <a:latin typeface="Segoe UI"/>
              </a:rPr>
              <a:t>Banks and insurers running agents on IBM Z</a:t>
            </a:r>
          </a:p>
        </p:txBody>
      </p:sp>
      <p:sp>
        <p:nvSpPr>
          <p:cNvPr id="10" name="Rounded Rectangle 9"/>
          <p:cNvSpPr/>
          <p:nvPr/>
        </p:nvSpPr>
        <p:spPr>
          <a:xfrm>
            <a:off x="4297680" y="1783080"/>
            <a:ext cx="3566160" cy="2377440"/>
          </a:xfrm>
          <a:prstGeom prst="roundRect">
            <a:avLst>
              <a:gd name="adj" fmla="val 6000"/>
            </a:avLst>
          </a:prstGeom>
          <a:solidFill>
            <a:srgbClr val="0C1A28"/>
          </a:solidFill>
          <a:ln w="15240">
            <a:solidFill>
              <a:srgbClr val="0F6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920240"/>
            <a:ext cx="3200400" cy="365760"/>
          </a:xfrm>
          <a:prstGeom prst="rect">
            <a:avLst/>
          </a:prstGeom>
          <a:noFill/>
        </p:spPr>
        <p:txBody>
          <a:bodyPr wrap="square">
            <a:spAutoFit/>
          </a:bodyPr>
          <a:lstStyle/>
          <a:p>
            <a:r>
              <a:rPr sz="1500" b="1">
                <a:solidFill>
                  <a:srgbClr val="0F62FE"/>
                </a:solidFill>
                <a:latin typeface="Segoe UI"/>
              </a:rPr>
              <a:t>Why IBM Z</a:t>
            </a:r>
          </a:p>
        </p:txBody>
      </p:sp>
      <p:sp>
        <p:nvSpPr>
          <p:cNvPr id="12" name="TextBox 11"/>
          <p:cNvSpPr txBox="1"/>
          <p:nvPr/>
        </p:nvSpPr>
        <p:spPr>
          <a:xfrm>
            <a:off x="4480560" y="2331720"/>
            <a:ext cx="3200400" cy="1737360"/>
          </a:xfrm>
          <a:prstGeom prst="rect">
            <a:avLst/>
          </a:prstGeom>
          <a:noFill/>
        </p:spPr>
        <p:txBody>
          <a:bodyPr wrap="square">
            <a:spAutoFit/>
          </a:bodyPr>
          <a:lstStyle/>
          <a:p>
            <a:r>
              <a:rPr sz="1200" b="0">
                <a:solidFill>
                  <a:srgbClr val="E8F0F7"/>
                </a:solidFill>
                <a:latin typeface="Segoe UI"/>
              </a:rPr>
              <a:t>Decisions sit next to the transaction systems</a:t>
            </a:r>
          </a:p>
          <a:p>
            <a:r>
              <a:rPr sz="1200" b="0">
                <a:solidFill>
                  <a:srgbClr val="E8F0F7"/>
                </a:solidFill>
                <a:latin typeface="Segoe UI"/>
              </a:rPr>
              <a:t>On-chip AI inference (Telum NNPA)</a:t>
            </a:r>
          </a:p>
          <a:p>
            <a:r>
              <a:rPr sz="1200" b="0">
                <a:solidFill>
                  <a:srgbClr val="E8F0F7"/>
                </a:solidFill>
                <a:latin typeface="Segoe UI"/>
              </a:rPr>
              <a:t>Enterprise isolation, encryption, audit</a:t>
            </a:r>
          </a:p>
          <a:p>
            <a:r>
              <a:rPr sz="1200" b="0">
                <a:solidFill>
                  <a:srgbClr val="E8F0F7"/>
                </a:solidFill>
                <a:latin typeface="Segoe UI"/>
              </a:rPr>
              <a:t>Scales to every agent call</a:t>
            </a:r>
          </a:p>
        </p:txBody>
      </p:sp>
      <p:sp>
        <p:nvSpPr>
          <p:cNvPr id="13" name="Rounded Rectangle 12"/>
          <p:cNvSpPr/>
          <p:nvPr/>
        </p:nvSpPr>
        <p:spPr>
          <a:xfrm>
            <a:off x="8046720" y="1783080"/>
            <a:ext cx="3566160" cy="2377440"/>
          </a:xfrm>
          <a:prstGeom prst="roundRect">
            <a:avLst>
              <a:gd name="adj" fmla="val 6000"/>
            </a:avLst>
          </a:prstGeom>
          <a:solidFill>
            <a:srgbClr val="0C1A28"/>
          </a:solidFill>
          <a:ln w="15240">
            <a:solidFill>
              <a:srgbClr val="FFBC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920240"/>
            <a:ext cx="3200400" cy="365760"/>
          </a:xfrm>
          <a:prstGeom prst="rect">
            <a:avLst/>
          </a:prstGeom>
          <a:noFill/>
        </p:spPr>
        <p:txBody>
          <a:bodyPr wrap="square">
            <a:spAutoFit/>
          </a:bodyPr>
          <a:lstStyle/>
          <a:p>
            <a:r>
              <a:rPr sz="1500" b="1">
                <a:solidFill>
                  <a:srgbClr val="FFBC5C"/>
                </a:solidFill>
                <a:latin typeface="Segoe UI"/>
              </a:rPr>
              <a:t>Next steps</a:t>
            </a:r>
          </a:p>
        </p:txBody>
      </p:sp>
      <p:sp>
        <p:nvSpPr>
          <p:cNvPr id="15" name="TextBox 14"/>
          <p:cNvSpPr txBox="1"/>
          <p:nvPr/>
        </p:nvSpPr>
        <p:spPr>
          <a:xfrm>
            <a:off x="8229600" y="2331720"/>
            <a:ext cx="3200400" cy="1737360"/>
          </a:xfrm>
          <a:prstGeom prst="rect">
            <a:avLst/>
          </a:prstGeom>
          <a:noFill/>
        </p:spPr>
        <p:txBody>
          <a:bodyPr wrap="square">
            <a:spAutoFit/>
          </a:bodyPr>
          <a:lstStyle/>
          <a:p>
            <a:r>
              <a:rPr sz="1200" b="0">
                <a:solidFill>
                  <a:srgbClr val="E8F0F7"/>
                </a:solidFill>
                <a:latin typeface="Segoe UI"/>
              </a:rPr>
              <a:t>Pilot on real CAD/ERP action logs</a:t>
            </a:r>
          </a:p>
          <a:p>
            <a:r>
              <a:rPr sz="1200" b="0">
                <a:solidFill>
                  <a:srgbClr val="E8F0F7"/>
                </a:solidFill>
                <a:latin typeface="Segoe UI"/>
              </a:rPr>
              <a:t>Policy-as-code for operators</a:t>
            </a:r>
          </a:p>
          <a:p>
            <a:r>
              <a:rPr sz="1200" b="0">
                <a:solidFill>
                  <a:srgbClr val="E8F0F7"/>
                </a:solidFill>
                <a:latin typeface="Segoe UI"/>
              </a:rPr>
              <a:t>External anchoring of the audit head</a:t>
            </a:r>
          </a:p>
          <a:p>
            <a:r>
              <a:rPr sz="1200" b="0">
                <a:solidFill>
                  <a:srgbClr val="E8F0F7"/>
                </a:solidFill>
                <a:latin typeface="Segoe UI"/>
              </a:rPr>
              <a:t>Signed tool manifests per agent</a:t>
            </a:r>
          </a:p>
        </p:txBody>
      </p:sp>
      <p:sp>
        <p:nvSpPr>
          <p:cNvPr id="16" name="Rounded Rectangle 15"/>
          <p:cNvSpPr/>
          <p:nvPr/>
        </p:nvSpPr>
        <p:spPr>
          <a:xfrm>
            <a:off x="548640" y="4389120"/>
            <a:ext cx="11064240" cy="1645920"/>
          </a:xfrm>
          <a:prstGeom prst="roundRect">
            <a:avLst>
              <a:gd name="adj" fmla="val 6000"/>
            </a:avLst>
          </a:prstGeom>
          <a:solidFill>
            <a:srgbClr val="0C1A28"/>
          </a:solidFill>
          <a:ln w="15240">
            <a:solidFill>
              <a:srgbClr val="849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526280"/>
            <a:ext cx="10698480" cy="365760"/>
          </a:xfrm>
          <a:prstGeom prst="rect">
            <a:avLst/>
          </a:prstGeom>
          <a:noFill/>
        </p:spPr>
        <p:txBody>
          <a:bodyPr wrap="square">
            <a:spAutoFit/>
          </a:bodyPr>
          <a:lstStyle/>
          <a:p>
            <a:r>
              <a:rPr sz="1400" b="1">
                <a:solidFill>
                  <a:srgbClr val="8496A8"/>
                </a:solidFill>
                <a:latin typeface="Segoe UI"/>
              </a:rPr>
              <a:t>Honest limitations</a:t>
            </a:r>
          </a:p>
        </p:txBody>
      </p:sp>
      <p:sp>
        <p:nvSpPr>
          <p:cNvPr id="18" name="TextBox 17"/>
          <p:cNvSpPr txBox="1"/>
          <p:nvPr/>
        </p:nvSpPr>
        <p:spPr>
          <a:xfrm>
            <a:off x="731520" y="4937759"/>
            <a:ext cx="10698480" cy="1005840"/>
          </a:xfrm>
          <a:prstGeom prst="rect">
            <a:avLst/>
          </a:prstGeom>
          <a:noFill/>
        </p:spPr>
        <p:txBody>
          <a:bodyPr wrap="square">
            <a:spAutoFit/>
          </a:bodyPr>
          <a:lstStyle/>
          <a:p>
            <a:r>
              <a:rPr sz="1200" b="0">
                <a:solidFill>
                  <a:srgbClr val="E8F0F7"/>
                </a:solidFill>
                <a:latin typeface="Segoe UI"/>
              </a:rPr>
              <a:t>Synthetic data and a fictional city; labels come from our generator, not real incidents. The injection scenario's attacker is a deterministic test harness, not a compromised LLM. NNPA claims are limited to what the benchmark measured on this VM.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Kanban_IBM Z Datathon 2026 Project - IntentGate Z</dc:title>
  <dc:subject/>
  <dc:creator>Team Kanban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